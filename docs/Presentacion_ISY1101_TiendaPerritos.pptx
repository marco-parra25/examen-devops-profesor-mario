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Saludar y presentarse. 'Somos Marco Parra y Luis Inostroza. Presentamos nuestra plataforma Tienda de Perritos: una aplicación web con frontend, backend y base de datos, con todo el ciclo CI/CD automatizado y desplegada en la nube sobre AWS EKS.'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recorrido: arquitectura, contenedores, pipeline, despliegue en la nube, orquestación y seguridad. Cerrar con la demostración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el flujo de izquierda a derecha. El usuario accede por el LoadBalancer, que reparte a las réplicas del frontend. El frontend nginx reenvía las peticiones /api/ al backend Node.js en el puerto 3001, y el backend consulta MySQL en el 3306. Elegimos AWS. Solo el frontend es público; backend y base de datos son internos, por seguridad.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componente tiene su propia imagen. El backend usa Dockerfile multietapa (separa dependencias de ejecución) con usuario no-root, para una imagen más liviana y segura. Usamos imágenes base alpine (minimalistas) y .dockerignore. Para el desarrollo local, docker-compose levanta los tres componentes juntos en una red interna, permitiendo probar toda la plataforma con un comando.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Tenemos un pipeline por componente en GitHub Actions. Al hacer push, el backend primero ejecuta las pruebas con Jest; si fallan, se detiene. Luego construye la imagen, la publica en Amazon ECR etiquetada con latest y con el SHA del commit (trazabilidad), y finalmente despliega en EKS con kubectl. Las credenciales de AWS se guardan en GitHub Secrets, nunca en el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mostramos el resultado: 3 imágenes en Amazon ECR, la aplicación corriendo en un cluster EKS de 2 nodos con 5 pods (2 frontend, 2 backend, 1 base de datos), y un LoadBalancer que expone la app públicamente. En la demostración abriremos la URL para mostrar la tienda funcionando en la nube.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¿Por qué EKS en vez de un despliegue manual? Kubernetes automatiza tareas críticas: el HPA escala el frontend de 2 a 6 réplicas según la CPU; las probes reinician los pods caídos; el servicio balancea la carga; y tener varias réplicas garantiza alta disponibilidad. Esto sería inviable con un despliegue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seguridad: imágenes endurecidas (alpine, multietapa, no-root); exposición mínima de puertos, con solo el frontend público y el backend y la base de datos internos; y secretos fuera del código con GitHub Secrets y Kubernetes Secrets. Para observabilidad, los logs del pipeline en Actions y las métricas de CPU/memoria.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de la demo: mostrar el repositorio, levantar la plataforma con docker-compose, mostrar un pipeline corriendo en Actions, las imágenes en ECR, la tienda por la URL pública, y los pods/servicios en la consola de AWS. Tener las pestañas abiertas de antemano.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resumiendo: automatizamos el ciclo completo desde el código hasta la nube. Agradecer y abrir a preguntas. Estar preparado para defender cualquier decisión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029200" cy="5029200"/>
          </a:xfrm>
          <a:prstGeom prst="ellipse">
            <a:avLst/>
          </a:prstGeom>
          <a:solidFill>
            <a:srgbClr val="102A46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206240"/>
            <a:ext cx="4572000" cy="4572000"/>
          </a:xfrm>
          <a:prstGeom prst="ellipse">
            <a:avLst/>
          </a:prstGeom>
          <a:solidFill>
            <a:srgbClr val="102A4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554480"/>
            <a:ext cx="1188720" cy="1188720"/>
          </a:xfrm>
          <a:prstGeom prst="roundRect">
            <a:avLst>
              <a:gd name="adj" fmla="val 21538"/>
            </a:avLst>
          </a:prstGeom>
          <a:solidFill>
            <a:srgbClr val="10D6A3"/>
          </a:solidFill>
          <a:ln/>
          <a:effectLst>
            <a:outerShdw sx="100000" sy="100000" kx="0" ky="0" algn="bl" rotWithShape="0" blurRad="152400" dist="508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544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🐶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 de Perritos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58952" y="41148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0D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DevOps con CI/CD y despliegue en AWS EKS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31520" y="5257800"/>
            <a:ext cx="7863840" cy="960120"/>
          </a:xfrm>
          <a:prstGeom prst="roundRect">
            <a:avLst>
              <a:gd name="adj" fmla="val 9524"/>
            </a:avLst>
          </a:prstGeom>
          <a:solidFill>
            <a:srgbClr val="102A46"/>
          </a:solidFill>
          <a:ln w="12700">
            <a:solidFill>
              <a:srgbClr val="2A55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5257800"/>
            <a:ext cx="7406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Final Transversal · Introducción a Herramientas DevOps (ISY1101)
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Parra   ·   Luis Inostroza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029200" cy="5029200"/>
          </a:xfrm>
          <a:prstGeom prst="ellipse">
            <a:avLst/>
          </a:prstGeom>
          <a:solidFill>
            <a:srgbClr val="102A4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920240"/>
            <a:ext cx="594360" cy="594360"/>
          </a:xfrm>
          <a:prstGeom prst="ellipse">
            <a:avLst/>
          </a:prstGeom>
          <a:solidFill>
            <a:srgbClr val="10D6A3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9202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1600200"/>
            <a:ext cx="4023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solución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3081528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05840" y="3401568"/>
            <a:ext cx="594360" cy="594360"/>
          </a:xfrm>
          <a:prstGeom prst="ellipse">
            <a:avLst/>
          </a:prstGeom>
          <a:solidFill>
            <a:srgbClr val="10D6A3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40156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828800" y="3081528"/>
            <a:ext cx="4023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Contenerización (Docker)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562856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05840" y="4882896"/>
            <a:ext cx="594360" cy="594360"/>
          </a:xfrm>
          <a:prstGeom prst="ellipse">
            <a:avLst/>
          </a:prstGeom>
          <a:solidFill>
            <a:srgbClr val="10D6A3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4882896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828800" y="4562856"/>
            <a:ext cx="4023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CI/CD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355080" y="16002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29400" y="1920240"/>
            <a:ext cx="594360" cy="594360"/>
          </a:xfrm>
          <a:prstGeom prst="ellipse">
            <a:avLst/>
          </a:prstGeom>
          <a:solidFill>
            <a:srgbClr val="3AA0B8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19202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452360" y="1600200"/>
            <a:ext cx="4023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la nube (ECR + EKS)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355080" y="3081528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29400" y="3401568"/>
            <a:ext cx="594360" cy="594360"/>
          </a:xfrm>
          <a:prstGeom prst="ellipse">
            <a:avLst/>
          </a:prstGeom>
          <a:solidFill>
            <a:srgbClr val="3AA0B8"/>
          </a:solidFill>
          <a:ln/>
        </p:spPr>
      </p:sp>
      <p:sp>
        <p:nvSpPr>
          <p:cNvPr id="22" name="Text 20"/>
          <p:cNvSpPr/>
          <p:nvPr/>
        </p:nvSpPr>
        <p:spPr>
          <a:xfrm>
            <a:off x="6629400" y="340156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452360" y="3081528"/>
            <a:ext cx="4023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Orquestación y escalabilidad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355080" y="4562856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629400" y="4882896"/>
            <a:ext cx="594360" cy="594360"/>
          </a:xfrm>
          <a:prstGeom prst="ellipse">
            <a:avLst/>
          </a:prstGeom>
          <a:solidFill>
            <a:srgbClr val="3AA0B8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4882896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452360" y="4562856"/>
            <a:ext cx="4023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observabilidad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029200" cy="5029200"/>
          </a:xfrm>
          <a:prstGeom prst="ellipse">
            <a:avLst/>
          </a:prstGeom>
          <a:solidFill>
            <a:srgbClr val="102A4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0D6A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457200"/>
            <a:ext cx="10241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solución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 que se comunican entre sí. El usuario entra por el LoadBalancer; nginx hace de proxy al backend; el backend consulta la base de datos.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017520"/>
            <a:ext cx="1938528" cy="1417320"/>
          </a:xfrm>
          <a:prstGeom prst="roundRect">
            <a:avLst>
              <a:gd name="adj" fmla="val 7742"/>
            </a:avLst>
          </a:prstGeom>
          <a:solidFill>
            <a:srgbClr val="102A46"/>
          </a:solidFill>
          <a:ln w="19050">
            <a:solidFill>
              <a:srgbClr val="2A557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3273552"/>
            <a:ext cx="19385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505456" y="3721608"/>
            <a:ext cx="347472" cy="0"/>
          </a:xfrm>
          <a:prstGeom prst="line">
            <a:avLst/>
          </a:prstGeom>
          <a:noFill/>
          <a:ln w="31750">
            <a:solidFill>
              <a:srgbClr val="10D6A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52928" y="3017520"/>
            <a:ext cx="1938528" cy="1417320"/>
          </a:xfrm>
          <a:prstGeom prst="roundRect">
            <a:avLst>
              <a:gd name="adj" fmla="val 7742"/>
            </a:avLst>
          </a:prstGeom>
          <a:solidFill>
            <a:srgbClr val="3AA0B8"/>
          </a:solidFill>
          <a:ln w="19050">
            <a:solidFill>
              <a:srgbClr val="3AA0B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852928" y="3273552"/>
            <a:ext cx="19385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LoadBalancer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852928" y="379476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ELB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91456" y="3721608"/>
            <a:ext cx="347472" cy="0"/>
          </a:xfrm>
          <a:prstGeom prst="line">
            <a:avLst/>
          </a:prstGeom>
          <a:noFill/>
          <a:ln w="31750">
            <a:solidFill>
              <a:srgbClr val="10D6A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138928" y="3017520"/>
            <a:ext cx="1938528" cy="1417320"/>
          </a:xfrm>
          <a:prstGeom prst="roundRect">
            <a:avLst>
              <a:gd name="adj" fmla="val 7742"/>
            </a:avLst>
          </a:prstGeom>
          <a:solidFill>
            <a:srgbClr val="163A5C"/>
          </a:solidFill>
          <a:ln w="19050">
            <a:solidFill>
              <a:srgbClr val="16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38928" y="3273552"/>
            <a:ext cx="19385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138928" y="379476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×2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77456" y="3721608"/>
            <a:ext cx="347472" cy="0"/>
          </a:xfrm>
          <a:prstGeom prst="line">
            <a:avLst/>
          </a:prstGeom>
          <a:noFill/>
          <a:ln w="31750">
            <a:solidFill>
              <a:srgbClr val="10D6A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424928" y="3017520"/>
            <a:ext cx="1938528" cy="1417320"/>
          </a:xfrm>
          <a:prstGeom prst="roundRect">
            <a:avLst>
              <a:gd name="adj" fmla="val 7742"/>
            </a:avLst>
          </a:prstGeom>
          <a:solidFill>
            <a:srgbClr val="163A5C"/>
          </a:solidFill>
          <a:ln w="19050">
            <a:solidFill>
              <a:srgbClr val="16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424928" y="3273552"/>
            <a:ext cx="19385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424928" y="379476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×2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363456" y="3721608"/>
            <a:ext cx="347472" cy="0"/>
          </a:xfrm>
          <a:prstGeom prst="line">
            <a:avLst/>
          </a:prstGeom>
          <a:noFill/>
          <a:ln w="31750">
            <a:solidFill>
              <a:srgbClr val="10D6A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710928" y="3017520"/>
            <a:ext cx="1938528" cy="1417320"/>
          </a:xfrm>
          <a:prstGeom prst="roundRect">
            <a:avLst>
              <a:gd name="adj" fmla="val 7742"/>
            </a:avLst>
          </a:prstGeom>
          <a:solidFill>
            <a:srgbClr val="0B7D62"/>
          </a:solidFill>
          <a:ln w="19050">
            <a:solidFill>
              <a:srgbClr val="0B7D6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710928" y="3273552"/>
            <a:ext cx="19385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710928" y="379476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0D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 cloud: AWS   ·   Backend y base de datos internos (ClusterIP), no expuestos a internet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029200" cy="5029200"/>
          </a:xfrm>
          <a:prstGeom prst="ellipse">
            <a:avLst/>
          </a:prstGeom>
          <a:solidFill>
            <a:srgbClr val="102A4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0D6A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457200"/>
            <a:ext cx="10241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Contenerización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3456432" cy="2286000"/>
          </a:xfrm>
          <a:prstGeom prst="roundRect">
            <a:avLst>
              <a:gd name="adj" fmla="val 4000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847088"/>
            <a:ext cx="658368" cy="658368"/>
          </a:xfrm>
          <a:prstGeom prst="ellipse">
            <a:avLst/>
          </a:prstGeom>
          <a:solidFill>
            <a:srgbClr val="3AA0B8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84708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🌐</a:t>
            </a:r>
            <a:endParaRPr lang="en-US" sz="2160" dirty="0"/>
          </a:p>
        </p:txBody>
      </p:sp>
      <p:sp>
        <p:nvSpPr>
          <p:cNvPr id="9" name="Text 7"/>
          <p:cNvSpPr/>
          <p:nvPr/>
        </p:nvSpPr>
        <p:spPr>
          <a:xfrm>
            <a:off x="1600200" y="1920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4672" y="269748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nginx:alpine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la SPA y hace de proxy /api/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79392" y="1554480"/>
            <a:ext cx="3456432" cy="2286000"/>
          </a:xfrm>
          <a:prstGeom prst="roundRect">
            <a:avLst>
              <a:gd name="adj" fmla="val 4000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35424" y="1847088"/>
            <a:ext cx="658368" cy="658368"/>
          </a:xfrm>
          <a:prstGeom prst="ellipse">
            <a:avLst/>
          </a:prstGeom>
          <a:solidFill>
            <a:srgbClr val="10D6A3"/>
          </a:solidFill>
          <a:ln/>
        </p:spPr>
      </p:sp>
      <p:sp>
        <p:nvSpPr>
          <p:cNvPr id="13" name="Text 11"/>
          <p:cNvSpPr/>
          <p:nvPr/>
        </p:nvSpPr>
        <p:spPr>
          <a:xfrm>
            <a:off x="4535424" y="184708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⚙️</a:t>
            </a:r>
            <a:endParaRPr lang="en-US" sz="2160" dirty="0"/>
          </a:p>
        </p:txBody>
      </p:sp>
      <p:sp>
        <p:nvSpPr>
          <p:cNvPr id="14" name="Text 12"/>
          <p:cNvSpPr/>
          <p:nvPr/>
        </p:nvSpPr>
        <p:spPr>
          <a:xfrm>
            <a:off x="5330952" y="1920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35424" y="269748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node:18-alpine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multietapa + usuario no-root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10144" y="1554480"/>
            <a:ext cx="3456432" cy="2286000"/>
          </a:xfrm>
          <a:prstGeom prst="roundRect">
            <a:avLst>
              <a:gd name="adj" fmla="val 4000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66176" y="1847088"/>
            <a:ext cx="658368" cy="658368"/>
          </a:xfrm>
          <a:prstGeom prst="ellipse">
            <a:avLst/>
          </a:prstGeom>
          <a:solidFill>
            <a:srgbClr val="3AA0B8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184708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🗄️</a:t>
            </a:r>
            <a:endParaRPr lang="en-US" sz="2160" dirty="0"/>
          </a:p>
        </p:txBody>
      </p:sp>
      <p:sp>
        <p:nvSpPr>
          <p:cNvPr id="19" name="Text 17"/>
          <p:cNvSpPr/>
          <p:nvPr/>
        </p:nvSpPr>
        <p:spPr>
          <a:xfrm>
            <a:off x="9061704" y="1920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66176" y="269748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mysql:8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init.sql con datos iniciales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16052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102A46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68680" y="4434840"/>
            <a:ext cx="685800" cy="685800"/>
          </a:xfrm>
          <a:prstGeom prst="ellipse">
            <a:avLst/>
          </a:prstGeom>
          <a:solidFill>
            <a:srgbClr val="10D6A3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434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000000"/>
                </a:solidFill>
              </a:rPr>
              <a:t>🧩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828800" y="4160520"/>
            <a:ext cx="9509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D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 frontend, backend y base de datos conectados en el entorno local con un solo comando.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029200" cy="5029200"/>
          </a:xfrm>
          <a:prstGeom prst="ellipse">
            <a:avLst/>
          </a:prstGeom>
          <a:solidFill>
            <a:srgbClr val="102A4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0D6A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457200"/>
            <a:ext cx="10241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CI/CD (GitHub Actions)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56816" cy="1508760"/>
          </a:xfrm>
          <a:prstGeom prst="roundRect">
            <a:avLst>
              <a:gd name="adj" fmla="val 7273"/>
            </a:avLst>
          </a:prstGeom>
          <a:solidFill>
            <a:srgbClr val="3AA0B8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39572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F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" y="3218688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6FB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rama main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414016" y="3035808"/>
            <a:ext cx="329184" cy="0"/>
          </a:xfrm>
          <a:prstGeom prst="line">
            <a:avLst/>
          </a:prstGeom>
          <a:noFill/>
          <a:ln w="31750">
            <a:solidFill>
              <a:srgbClr val="CFE0F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743200" y="2286000"/>
            <a:ext cx="1956816" cy="1508760"/>
          </a:xfrm>
          <a:prstGeom prst="roundRect">
            <a:avLst>
              <a:gd name="adj" fmla="val 7273"/>
            </a:avLst>
          </a:prstGeom>
          <a:solidFill>
            <a:srgbClr val="10D6A3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880360" y="239572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F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43200" y="2743200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743200" y="3218688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6FB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Supertest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00016" y="3035808"/>
            <a:ext cx="329184" cy="0"/>
          </a:xfrm>
          <a:prstGeom prst="line">
            <a:avLst/>
          </a:prstGeom>
          <a:noFill/>
          <a:ln w="31750">
            <a:solidFill>
              <a:srgbClr val="CFE0F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29200" y="2286000"/>
            <a:ext cx="1956816" cy="1508760"/>
          </a:xfrm>
          <a:prstGeom prst="roundRect">
            <a:avLst>
              <a:gd name="adj" fmla="val 7273"/>
            </a:avLst>
          </a:prstGeom>
          <a:solidFill>
            <a:srgbClr val="3AA0B8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166360" y="239572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F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0" y="2743200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029200" y="3218688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6FB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Docker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86016" y="3035808"/>
            <a:ext cx="329184" cy="0"/>
          </a:xfrm>
          <a:prstGeom prst="line">
            <a:avLst/>
          </a:prstGeom>
          <a:noFill/>
          <a:ln w="31750">
            <a:solidFill>
              <a:srgbClr val="CFE0F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15200" y="2286000"/>
            <a:ext cx="1956816" cy="1508760"/>
          </a:xfrm>
          <a:prstGeom prst="roundRect">
            <a:avLst>
              <a:gd name="adj" fmla="val 7273"/>
            </a:avLst>
          </a:prstGeom>
          <a:solidFill>
            <a:srgbClr val="10D6A3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52360" y="239572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F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0" y="2743200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ECR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315200" y="3218688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6FB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tag: latest + sha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272016" y="3035808"/>
            <a:ext cx="329184" cy="0"/>
          </a:xfrm>
          <a:prstGeom prst="line">
            <a:avLst/>
          </a:prstGeom>
          <a:noFill/>
          <a:ln w="31750">
            <a:solidFill>
              <a:srgbClr val="CFE0F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601200" y="2286000"/>
            <a:ext cx="1956816" cy="1508760"/>
          </a:xfrm>
          <a:prstGeom prst="roundRect">
            <a:avLst>
              <a:gd name="adj" fmla="val 7273"/>
            </a:avLst>
          </a:prstGeom>
          <a:solidFill>
            <a:srgbClr val="0B7D62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738360" y="239572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F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601200" y="2743200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601200" y="3218688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6FB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AWS EKS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43434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0D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las pruebas fallan, el pipeline se detiene y no despliega   ·   Secretos con GitHub Secrets   ·   Un pipeline por componente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029200" cy="5029200"/>
          </a:xfrm>
          <a:prstGeom prst="ellipse">
            <a:avLst/>
          </a:prstGeom>
          <a:solidFill>
            <a:srgbClr val="102A4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0D6A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457200"/>
            <a:ext cx="10241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la nube (AWS)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383280" cy="2011680"/>
          </a:xfrm>
          <a:prstGeom prst="roundRect">
            <a:avLst>
              <a:gd name="adj" fmla="val 4545"/>
            </a:avLst>
          </a:prstGeom>
          <a:solidFill>
            <a:srgbClr val="102A46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0D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repositorios ECR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383280" cy="2011680"/>
          </a:xfrm>
          <a:prstGeom prst="roundRect">
            <a:avLst>
              <a:gd name="adj" fmla="val 4545"/>
            </a:avLst>
          </a:prstGeom>
          <a:solidFill>
            <a:srgbClr val="102A46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9768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0D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4297680" y="31089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en EKS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0" y="1737360"/>
            <a:ext cx="3383280" cy="2011680"/>
          </a:xfrm>
          <a:prstGeom prst="roundRect">
            <a:avLst>
              <a:gd name="adj" fmla="val 4545"/>
            </a:avLst>
          </a:prstGeom>
          <a:solidFill>
            <a:srgbClr val="102A46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95528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0D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7955280" y="31089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LoadBalancer público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1605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se construye y despliega automáticamente al hacer push. El frontend queda accesible por la URL del LoadBalancer, conectado al backend y a la base de datos MySQL.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029200" cy="5029200"/>
          </a:xfrm>
          <a:prstGeom prst="ellipse">
            <a:avLst/>
          </a:prstGeom>
          <a:solidFill>
            <a:srgbClr val="102A4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0D6A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457200"/>
            <a:ext cx="10241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Orquestación y escalabilidad (EKS)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257800" cy="1508760"/>
          </a:xfrm>
          <a:prstGeom prst="roundRect">
            <a:avLst>
              <a:gd name="adj" fmla="val 6061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993392"/>
            <a:ext cx="640080" cy="640080"/>
          </a:xfrm>
          <a:prstGeom prst="ellipse">
            <a:avLst/>
          </a:prstGeom>
          <a:solidFill>
            <a:srgbClr val="10D6A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99339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📈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737360" y="1810512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Autoescalado (HPA)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737360" y="2267712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frontend escala de 2 a 6 réplicas según el uso de CPU.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554480"/>
            <a:ext cx="5257800" cy="1508760"/>
          </a:xfrm>
          <a:prstGeom prst="roundRect">
            <a:avLst>
              <a:gd name="adj" fmla="val 6061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37960" y="1993392"/>
            <a:ext cx="640080" cy="640080"/>
          </a:xfrm>
          <a:prstGeom prst="ellipse">
            <a:avLst/>
          </a:prstGeom>
          <a:solidFill>
            <a:srgbClr val="3AA0B8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199339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❤️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360920" y="1810512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Auto-recuperación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60920" y="2267712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probes reinician automáticamente los pods que fallan.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337560"/>
            <a:ext cx="5257800" cy="1508760"/>
          </a:xfrm>
          <a:prstGeom prst="roundRect">
            <a:avLst>
              <a:gd name="adj" fmla="val 6061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3776472"/>
            <a:ext cx="640080" cy="640080"/>
          </a:xfrm>
          <a:prstGeom prst="ellipse">
            <a:avLst/>
          </a:prstGeom>
          <a:solidFill>
            <a:srgbClr val="10D6A3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7764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⚖️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737360" y="3593592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Balanceo de carga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737360" y="4050792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reparte el tráfico entre las réplicas.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63640" y="3337560"/>
            <a:ext cx="5257800" cy="1508760"/>
          </a:xfrm>
          <a:prstGeom prst="roundRect">
            <a:avLst>
              <a:gd name="adj" fmla="val 6061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37960" y="3776472"/>
            <a:ext cx="640080" cy="640080"/>
          </a:xfrm>
          <a:prstGeom prst="ellipse">
            <a:avLst/>
          </a:prstGeom>
          <a:solidFill>
            <a:srgbClr val="3AA0B8"/>
          </a:solidFill>
          <a:ln/>
        </p:spPr>
      </p:sp>
      <p:sp>
        <p:nvSpPr>
          <p:cNvPr id="23" name="Text 21"/>
          <p:cNvSpPr/>
          <p:nvPr/>
        </p:nvSpPr>
        <p:spPr>
          <a:xfrm>
            <a:off x="6537960" y="37764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🔁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7360920" y="3593592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disponibilidad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360920" y="4050792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réplicas evitan un único punto de falla.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029200" cy="5029200"/>
          </a:xfrm>
          <a:prstGeom prst="ellipse">
            <a:avLst/>
          </a:prstGeom>
          <a:solidFill>
            <a:srgbClr val="102A4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0D6A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457200"/>
            <a:ext cx="10241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observabilidad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10972800" cy="1005840"/>
          </a:xfrm>
          <a:prstGeom prst="roundRect">
            <a:avLst>
              <a:gd name="adj" fmla="val 9091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691640"/>
            <a:ext cx="640080" cy="640080"/>
          </a:xfrm>
          <a:prstGeom prst="ellipse">
            <a:avLst/>
          </a:prstGeom>
          <a:solidFill>
            <a:srgbClr val="3AA0B8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🛡️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783080" y="161848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Endurecimiento de imágenes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783080" y="2039112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alpine, multietapa y usuario no-root.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679192"/>
            <a:ext cx="10972800" cy="1005840"/>
          </a:xfrm>
          <a:prstGeom prst="roundRect">
            <a:avLst>
              <a:gd name="adj" fmla="val 9091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2862072"/>
            <a:ext cx="640080" cy="640080"/>
          </a:xfrm>
          <a:prstGeom prst="ellipse">
            <a:avLst/>
          </a:prstGeom>
          <a:solidFill>
            <a:srgbClr val="3AA0B8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8620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🔒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783080" y="2788920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mínima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783080" y="3209544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frontend es público; backend y BD internos (ClusterIP).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849624"/>
            <a:ext cx="10972800" cy="1005840"/>
          </a:xfrm>
          <a:prstGeom prst="roundRect">
            <a:avLst>
              <a:gd name="adj" fmla="val 9091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4032504"/>
            <a:ext cx="640080" cy="640080"/>
          </a:xfrm>
          <a:prstGeom prst="ellipse">
            <a:avLst/>
          </a:prstGeom>
          <a:solidFill>
            <a:srgbClr val="3AA0B8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03250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🔑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783080" y="3959352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secretos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783080" y="4379976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Secrets y Kubernetes Secrets — nada en el código.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020056"/>
            <a:ext cx="10972800" cy="1005840"/>
          </a:xfrm>
          <a:prstGeom prst="roundRect">
            <a:avLst>
              <a:gd name="adj" fmla="val 9091"/>
            </a:avLst>
          </a:prstGeom>
          <a:solidFill>
            <a:srgbClr val="163A5C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68680" y="5202936"/>
            <a:ext cx="640080" cy="640080"/>
          </a:xfrm>
          <a:prstGeom prst="ellipse">
            <a:avLst/>
          </a:prstGeom>
          <a:solidFill>
            <a:srgbClr val="3AA0B8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20293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📊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783080" y="5129784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783080" y="5550408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del pipeline en Actions y métricas de CPU/memoria.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029200" cy="5029200"/>
          </a:xfrm>
          <a:prstGeom prst="ellipse">
            <a:avLst/>
          </a:prstGeom>
          <a:solidFill>
            <a:srgbClr val="102A4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0D6A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457200"/>
            <a:ext cx="10241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en vivo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102A46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700784"/>
            <a:ext cx="365760" cy="365760"/>
          </a:xfrm>
          <a:prstGeom prst="ellipse">
            <a:avLst/>
          </a:prstGeom>
          <a:solidFill>
            <a:srgbClr val="10D6A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7007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1554480"/>
            <a:ext cx="9875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en GitHub: estructura y commits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340864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102A46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2487168"/>
            <a:ext cx="365760" cy="365760"/>
          </a:xfrm>
          <a:prstGeom prst="ellipse">
            <a:avLst/>
          </a:prstGeom>
          <a:solidFill>
            <a:srgbClr val="10D6A3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4871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63040" y="2340864"/>
            <a:ext cx="9875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levantando la plataforma en local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3127248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102A46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3273552"/>
            <a:ext cx="365760" cy="365760"/>
          </a:xfrm>
          <a:prstGeom prst="ellipse">
            <a:avLst/>
          </a:prstGeom>
          <a:solidFill>
            <a:srgbClr val="10D6A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2735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127248"/>
            <a:ext cx="9875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en Actions: build → test → push → deploy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3913632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102A46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8680" y="4059936"/>
            <a:ext cx="365760" cy="365760"/>
          </a:xfrm>
          <a:prstGeom prst="ellipse">
            <a:avLst/>
          </a:prstGeom>
          <a:solidFill>
            <a:srgbClr val="10D6A3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40599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63040" y="3913632"/>
            <a:ext cx="9875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Imágenes publicadas en Amazon ECR (con tags)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4700016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102A46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68680" y="4846320"/>
            <a:ext cx="365760" cy="365760"/>
          </a:xfrm>
          <a:prstGeom prst="ellipse">
            <a:avLst/>
          </a:prstGeom>
          <a:solidFill>
            <a:srgbClr val="10D6A3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4846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463040" y="4700016"/>
            <a:ext cx="9875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tienda funcionando por la URL del LoadBalancer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102A46"/>
          </a:solidFill>
          <a:ln w="12700">
            <a:solidFill>
              <a:srgbClr val="2A5578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68680" y="5632704"/>
            <a:ext cx="365760" cy="365760"/>
          </a:xfrm>
          <a:prstGeom prst="ellipse">
            <a:avLst/>
          </a:prstGeom>
          <a:solidFill>
            <a:srgbClr val="10D6A3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56327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463040" y="5486400"/>
            <a:ext cx="9875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y servicios en la consola de AWS / kubectl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029200" cy="5029200"/>
          </a:xfrm>
          <a:prstGeom prst="ellipse">
            <a:avLst/>
          </a:prstGeom>
          <a:solidFill>
            <a:srgbClr val="102A46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206240"/>
            <a:ext cx="4572000" cy="4572000"/>
          </a:xfrm>
          <a:prstGeom prst="ellipse">
            <a:avLst/>
          </a:prstGeom>
          <a:solidFill>
            <a:srgbClr val="102A4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10607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Automatizamos el ciclo completo de una plataforma Frontend + Backend + Base de datos:
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código a la nube, con pruebas, contenedores, CI/CD y orquestación en AWS EKS.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31520" y="4480560"/>
            <a:ext cx="4754880" cy="868680"/>
          </a:xfrm>
          <a:prstGeom prst="roundRect">
            <a:avLst>
              <a:gd name="adj" fmla="val 12632"/>
            </a:avLst>
          </a:prstGeom>
          <a:solidFill>
            <a:srgbClr val="10D6A3"/>
          </a:solidFill>
          <a:ln/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448056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   ·   Preguntas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2026-07-10T00:05:41Z</dcterms:created>
  <dcterms:modified xsi:type="dcterms:W3CDTF">2026-07-10T00:05:41Z</dcterms:modified>
</cp:coreProperties>
</file>